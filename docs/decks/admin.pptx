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8181B"/>
                </a:solidFill>
                <a:latin typeface="Arial"/>
              </a:rPr>
              <a:t>InsideHR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>
                <a:solidFill>
                  <a:srgbClr val="18181B"/>
                </a:solidFill>
                <a:latin typeface="Arial"/>
              </a:rPr>
              <a:t>Admin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71717A"/>
                </a:solidFill>
                <a:latin typeface="Arial"/>
              </a:rPr>
              <a:t>The full picture, end to end.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4297680"/>
            <a:ext cx="4526280" cy="0"/>
          </a:xfrm>
          <a:prstGeom prst="line">
            <a:avLst/>
          </a:prstGeom>
          <a:ln w="19050">
            <a:solidFill>
              <a:srgbClr val="18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1717A"/>
                </a:solidFill>
                <a:latin typeface="Arial"/>
              </a:rPr>
              <a:t>An iORA-style HR system for Singapore + Malaysia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Welcome — Admin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The full picture of what InsideHR lets you do as the system owner.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Logging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Every staff member uses the same login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Open the InsideHR URL in your browser.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Enter the email + temporary password issued to 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On first login you'll be forced to change your password (8+ characters).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4106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4106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95344"/>
            <a:ext cx="10774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After that, the password lives only in your head — Admin can reset but never see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0176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8289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Forgot password? Click the link, and you'll get a reset email via Resend.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51383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The system enforces secure session cookies that expire after a period of inactivity.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On first sign-in for the demo: jin@company.com / changeme123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Dashboard &amp;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Day-to-day overview and the employee directory.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The admin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At-a-glance summary of what needs your attention.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Top: approval-count widget — pending leave + expense + reviews across the company.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Birthday widget for the next 14 days.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Country holiday card — defaults to your country's holidays for the current year.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6674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From here you can navigate to any module via the sidebar.</a:t>
            </a:r>
          </a:p>
        </p:txBody>
      </p:sp>
      <p:pic>
        <p:nvPicPr>
          <p:cNvPr id="16" name="Picture 15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People —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One row per active employee, with quick filter +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Filter by country (SG / MY), role, department, status.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Coloured avatar + role pill makes status visible.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535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any row → detailed employee profile with documents, leave, reviews, audit trail.</a:t>
            </a:r>
          </a:p>
        </p:txBody>
      </p:sp>
      <p:pic>
        <p:nvPicPr>
          <p:cNvPr id="14" name="Picture 13" descr="admin-peopl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People — add new employee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The form that creates a user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"+ New employee" on the People list.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Fill out basics (name, email, country), then the job info section.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Set Employment Type — EMPLOYEE / CONTRACTOR / PART_TIME. Part-time enables timesheets + payroll fields.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Pick a reporting manager — drives review assignment, leave approval, and expense approval.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37176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37176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91456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Save → the system issues a temporary password and the user gets an invite email.</a:t>
            </a:r>
          </a:p>
        </p:txBody>
      </p:sp>
      <p:pic>
        <p:nvPicPr>
          <p:cNvPr id="23" name="Picture 22" descr="admin-people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PART_TIME = sets hourlyRate + normalDailyHours required for payroll math.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Org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The reporting hierarchy as a navigable tree.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Auto-built from each employee's reportingManagerId.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a node to focus on that branch.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535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Useful for sanity-checking the management graph before running a perf review cycle.</a:t>
            </a:r>
          </a:p>
        </p:txBody>
      </p:sp>
      <p:pic>
        <p:nvPicPr>
          <p:cNvPr id="14" name="Picture 13" descr="admin-org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Leave &amp; Holidays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Time off policy, balances, public holidays.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Holidays — SG &amp; 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Public holiday calendar per country.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Seeded with 2026 federal holidays for both countries.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Add / edit / mark observed status per country.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535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Drives auto-detection in the part-time timesheet (logging hours on a holiday = 2× pay).</a:t>
            </a:r>
          </a:p>
        </p:txBody>
      </p:sp>
      <p:pic>
        <p:nvPicPr>
          <p:cNvPr id="14" name="Picture 13" descr="admin-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Admin Leave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Operations admin: bulk balance adjust, CSV import, year-end carry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Balance adjust — give an employee +N days for a leave type, audit-logged.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CSV import — bulk-load historical leave from your previous system.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Carry-forward — at year-end, roll unused balance into the new year (caps configurable).</a:t>
            </a:r>
          </a:p>
        </p:txBody>
      </p:sp>
      <p:pic>
        <p:nvPicPr>
          <p:cNvPr id="14" name="Picture 13" descr="admin-leave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059" y="1920240"/>
            <a:ext cx="4982817" cy="4297680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Time Off — view from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Admin can see and act on any employee's leave.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Filter by status, leave type, person, or date range.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Admin override: approve / reject any request (audit-logged).</a:t>
            </a:r>
          </a:p>
        </p:txBody>
      </p:sp>
      <p:pic>
        <p:nvPicPr>
          <p:cNvPr id="12" name="Picture 11" descr="admin-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Documents &amp; Expenses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Files and reimbursable spend.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Company-wide files + per-employee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Company tab: HR uploads handbook, policies, holiday calendar PDFs — visible to everyone.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Employee tab: per-employee folders — only visible to that employee + their manager + admin.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Files live in Google Drive; the app issues short-lived download URLs.</a:t>
            </a:r>
          </a:p>
        </p:txBody>
      </p:sp>
      <p:pic>
        <p:nvPicPr>
          <p:cNvPr id="14" name="Picture 13" descr="admin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Expenses — admin reimbursement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Approved expenses awaiting reimbursement.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Bulk-select rows, then mark as reimbursed — sets reimbursedAt + reimbursedById, audit-logged.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Export Excel: per-employee summary + line items for finance handoff.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Receipts are linked Google Drive URLs.</a:t>
            </a:r>
          </a:p>
        </p:txBody>
      </p:sp>
      <p:pic>
        <p:nvPicPr>
          <p:cNvPr id="14" name="Picture 13" descr="admin-expenses-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Expenses — your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Admin can also file expenses like any employee.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Tabs: Draft / For Approval / Approved / Rejected / Reimbursed.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"+ New expense" → category, amount + currency, merchant, receipt date, description, receipt upload.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Multi-step approval if configured (manager → admin reimburses).</a:t>
            </a:r>
          </a:p>
        </p:txBody>
      </p:sp>
      <p:pic>
        <p:nvPicPr>
          <p:cNvPr id="14" name="Picture 13" descr="admin-expe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Performance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Cycles, scope, goal-setting, evaluation, lifecycle.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Performance —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Three templates, one data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FULL: store managers + HQ. Goals + 5-point rating + narrative.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LITE: part-timers + casuals. Behavioural 3-point rating, no goals. Promotion-ready flag.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PROBATION: 3-month confirmation review for new hires (MY-compliance lever). Decision: CONFIRMED / EXTENDED / NOT_CONFIRMED.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0690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5020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Per-cycle config: rating labels, goal min/max, employee comment, sales target, attendance, etc.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Cadence is up to you — create a new cycle quarterly, biannually, or ad-hoc.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19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1 — Create a review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Set the rules for this round of reviews.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Sidebar → Performance → Cycles → + New cycle.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Name + start/end dates + (optional) goal-setting &amp; evaluation deadlines.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Pick a template. The form below auto-adjusts (no rating fields for PROBATION; no goals for LITE).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Toggle the retail extras you care about — sales target (with currency), attendance metric.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37176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37176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91456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Save → you land on the cycle detail page (status = DRAFT).</a:t>
            </a:r>
          </a:p>
        </p:txBody>
      </p:sp>
      <p:pic>
        <p:nvPicPr>
          <p:cNvPr id="23" name="Picture 22" descr="admin-perf-cycle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354" y="1920240"/>
            <a:ext cx="5400226" cy="4297680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2 — Scope the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Pick who is in this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On the cycle detail page, find the Scope section.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Filter mode: pick employment type / country / department → click "Add matching employees".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Picker mode (below): search the list of active employees not yet in this cycle → tick checkboxes → "Add picked".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Each scoped employee gets a PerformanceReview row, with their reporting manager snapshotted at this moment.</a:t>
            </a:r>
          </a:p>
        </p:txBody>
      </p:sp>
      <p:pic>
        <p:nvPicPr>
          <p:cNvPr id="20" name="Picture 19" descr="admin-perf-cyc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098" y="1920240"/>
            <a:ext cx="4404739" cy="4297680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Manager-snapshot means reorgs mid-cycle don't lose history.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3 — Open the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DRAFT → ACTIVE: managers can now set goals.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Lifecycle panel on the cycle detail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523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"Open cycle (start goal-setting)" — cycle goes ACTIVE.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4728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Each scoped review goes from NOT_STARTED → managers can now write goals for their reports.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Once minGoals are saved per review, that review auto-promotes to GOALS_SET.</a:t>
            </a:r>
          </a:p>
        </p:txBody>
      </p:sp>
      <p:pic>
        <p:nvPicPr>
          <p:cNvPr id="20" name="Picture 19" descr="admin-perf-cyc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098" y="1920240"/>
            <a:ext cx="4404739" cy="4297680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4 — Move to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ACTIVE → EVALUATION: managers rate + submit.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"Move to evaluation" when the goal-setting window closes.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Goals become read-only; each goal needs an outcome (Missed / Partial / Met / Exceeded) plus an optional comment.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Managers also fill the overall rating, narrative, sales target/actual, attendance — depending on what the cycle includes.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0690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5020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Once a manager submits, the review → PENDING_ACKNOWLEDGEMENT.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5 — Watch progress, then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EVALUATION →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Cycle detail shows a table of every review with its status pill.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Once all employees have acknowledged, click "Close cycle" → CLOSED, locked from further edits.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Admin can still "Reopen" an individual review if a correction is needed (audit-logged).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HR export for closed cycles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Excel workbook with 5 sheets, ready for HR/payroll.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Cycle — config snapshot.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Reviews — one row per employee with rating, narrative, sales numbers, probation decision.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Goals — every goal across the cycle with outcomes + manager comments.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6674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Rating distribution — for calibration.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7764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5876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Probation outcomes — when applicable.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Click "Export Excel" in the cycle header.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Part-time Timesheets &amp; Payroll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The new module for hourly workers.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How the part-time flow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Employee submits hours → manager approves → admin runs payroll.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Part-time employees log hours per day, then submit the whole week.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Submitted entries lock from edit; manager sees them in their approval queue.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Manager approves (or rejects with a reason). Rejected entries unlock for the employee to fix.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679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Approved entries flow into the monthly payroll calculation.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Malaysian Employment Act 1955 multipliers apply automatically (1.5× over 8h/day or 45h/week, 2× PH, 3× PH OT).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Time approvals (admin override)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Admin can also approve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Same view as the manager approval queue.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Useful when a manager is on leave or terminated mid-week.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535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Bulk-approve a whole week per employee.</a:t>
            </a:r>
          </a:p>
        </p:txBody>
      </p:sp>
      <p:pic>
        <p:nvPicPr>
          <p:cNvPr id="14" name="Picture 13" descr="admin-time-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28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Payroll — monthly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Auto-computed pay per part-timer.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Per-row split: Regular / OT (1.5×) / PH (2×) / PH-OT (3×) hours × hourly rate.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Currency derived from each employee's country (SGD / MYR).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Prev / Next month buttons; defaults to current month.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46557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4670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Export Excel: summary sheet + line items for your payroll provider.</a:t>
            </a:r>
          </a:p>
        </p:txBody>
      </p:sp>
      <p:pic>
        <p:nvPicPr>
          <p:cNvPr id="16" name="Picture 15" descr="admin-pay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Multipliers per Employment Act 1955 (2022 amendment).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Rewards &amp; Bonuses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Tie performance to bonus payouts.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Rewards —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Discretionary bonus cycles, optionally linked to a perf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Bonus types: PERFORMANCE / CONTRACTUAL_13TH / AD_HOC.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Cycle currency: MYR / SGD / USD.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535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Lifecycle: DRAFT → APPROVED → PAID → CLOSED — when you transition, all draft allocations cascade with you.</a:t>
            </a:r>
          </a:p>
        </p:txBody>
      </p:sp>
      <p:pic>
        <p:nvPicPr>
          <p:cNvPr id="14" name="Picture 13" descr="admin-rewards-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51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1 — Create a reward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Sidebar → Admin → Rewards → + New cycle.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942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Name (e.g. "Hari Raya 2026 Bonus"), optional description.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Optionally link to a perf review cycle — when linked, you'll see each employee's overall rating during allocation, for context.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Pick currency, optional total pool (for budgeting), optional payout date.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79976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4256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Save → land on the cycle detail page in DRAFT.</a:t>
            </a:r>
          </a:p>
        </p:txBody>
      </p:sp>
      <p:pic>
        <p:nvPicPr>
          <p:cNvPr id="22" name="Picture 21" descr="admin-rewards-cycle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6538"/>
            <a:ext cx="5836615" cy="3647884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2 — Allocate amounts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Per-employee, per-bonus-type allocations.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STEP-BY-STEP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Expand "+ Add allocation" — see all active employees with their linked rating.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5351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5351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0779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Click "Allocate" next to one — inline form: bonus type, amount, rationale.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48456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48456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02736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Each row in the table = one allocation with a status pill.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42232"/>
            <a:ext cx="29260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Edit (pencil) or cancel (X) draft allocations any time.</a:t>
            </a:r>
          </a:p>
        </p:txBody>
      </p:sp>
      <p:pic>
        <p:nvPicPr>
          <p:cNvPr id="20" name="Picture 19" descr="admin-rewards-cyc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97196"/>
            <a:ext cx="5836615" cy="3943768"/>
          </a:xfrm>
          <a:prstGeom prst="rect">
            <a:avLst/>
          </a:prstGeom>
          <a:ln w="6350">
            <a:solidFill>
              <a:srgbClr val="E4E4E7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Step 3 — Approve, pay,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Move the whole cycle through its lifecycle.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"Approve all draft allocations" → cycle APPROVED, draft rows stamped with you as approver, locked.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437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"Mark as paid" → cycle PAID, all allocations get paidAt timestamp.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"Close cycle" → final archive.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6674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Excel export available at any point: Allocations sheet + Summary by bonus type.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8181B"/>
                </a:solidFill>
                <a:latin typeface="Arial"/>
              </a:rPr>
              <a:t>Audit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71717A"/>
                </a:solidFill>
                <a:latin typeface="Arial"/>
              </a:rPr>
              <a:t>Trace and trust.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Audit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Every state transition leaves a trail.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Captured per record: who, when, what action, IP.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Includes login, password changes, leave/expense state changes, review submissions, probation outcomes, timesheet submissions, reward approvals.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558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Visible per-employee on their profile page (recent activity).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6791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Useful for compliance + dispute resolution.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Permissions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Who can do what.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ADMIN — every page, every action. Can reopen acknowledged reviews; can unlock approved timesheet entries; can transition reward cycles.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44952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MANAGER — sees their direct reports. Approves leave / expenses for them; sets and evaluates their goals; approves their timesheet entries.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58184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39312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EMPLOYEE — own records only. Submit leave / expenses; acknowledge perf reviews; (if PART_TIME) log + submit timesheets.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70248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51376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CONTRACTOR — like EMPLOYEE but excluded from default scoping in some flows.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InsideHR · Admin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926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37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5855" cy="0"/>
          </a:xfrm>
          <a:prstGeom prst="line">
            <a:avLst/>
          </a:prstGeom>
          <a:ln w="6350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8181B"/>
                </a:solidFill>
                <a:latin typeface="Arial"/>
              </a:rPr>
              <a:t>That's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71717A"/>
                </a:solidFill>
                <a:latin typeface="Arial"/>
              </a:rPr>
              <a:t>Welcome to InsideHR.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71717A"/>
                </a:solidFill>
                <a:latin typeface="Arial"/>
              </a:rPr>
              <a:t>WHAT YOU CAN 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Questions? Ask your HR Admin or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42616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Bugs? File a ticket with what you were doing + a screenshot.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54680"/>
            <a:ext cx="73152" cy="73152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10957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F3F46"/>
                </a:solidFill>
                <a:latin typeface="Arial"/>
              </a:rPr>
              <a:t>Feedback on features? The system is evolving — your input shapes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71717A"/>
                </a:solidFill>
                <a:latin typeface="Arial"/>
              </a:rPr>
              <a:t>iORA-style HR for SG + MY operations · v0.1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