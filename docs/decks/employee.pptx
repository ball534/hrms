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18181B"/>
                </a:solidFill>
                <a:latin typeface="Arial"/>
              </a:rPr>
              <a:t>InsideHR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19456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5400" b="1">
                <a:solidFill>
                  <a:srgbClr val="18181B"/>
                </a:solidFill>
                <a:latin typeface="Arial"/>
              </a:rPr>
              <a:t>Employee 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47472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71717A"/>
                </a:solidFill>
                <a:latin typeface="Arial"/>
              </a:rPr>
              <a:t>Self-service: leave, expenses, reviews, timesheet.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4297680"/>
            <a:ext cx="4526280" cy="0"/>
          </a:xfrm>
          <a:prstGeom prst="line">
            <a:avLst/>
          </a:prstGeom>
          <a:ln w="19050">
            <a:solidFill>
              <a:srgbClr val="18181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63093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71717A"/>
                </a:solidFill>
                <a:latin typeface="Arial"/>
              </a:rPr>
              <a:t>An iORA-style HR system for Singapore + Malaysia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71717A"/>
                </a:solidFill>
                <a:latin typeface="Arial"/>
              </a:rPr>
              <a:t>InsideHR · Employee 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29260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71717A"/>
                </a:solidFill>
                <a:latin typeface="Arial"/>
              </a:rPr>
              <a:t>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713232"/>
            <a:ext cx="11185855" cy="0"/>
          </a:xfrm>
          <a:prstGeom prst="line">
            <a:avLst/>
          </a:prstGeom>
          <a:ln w="6350">
            <a:solidFill>
              <a:srgbClr val="E4E4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8686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18181B"/>
                </a:solidFill>
                <a:latin typeface="Arial"/>
              </a:rPr>
              <a:t>Welcome — Employee guide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71717A"/>
                </a:solidFill>
                <a:latin typeface="Arial"/>
              </a:rPr>
              <a:t>How to use InsideHR for your own time off, expenses, and reviews.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920240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71717A"/>
                </a:solidFill>
                <a:latin typeface="Arial"/>
              </a:rPr>
              <a:t>WHAT YOU CAN DO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331720"/>
            <a:ext cx="73152" cy="73152"/>
          </a:xfrm>
          <a:prstGeom prst="ellipse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212848"/>
            <a:ext cx="1095725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InsideHR is the platform for your HR-related needs: applying for leave, claiming expenses, completing your performance review, and (for part-timers) logging your hours.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044952"/>
            <a:ext cx="73152" cy="73152"/>
          </a:xfrm>
          <a:prstGeom prst="ellipse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926080"/>
            <a:ext cx="1095725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Your access is limited to your own records — your manager sees your submissions; admin oversees the whole system.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557016"/>
            <a:ext cx="73152" cy="73152"/>
          </a:xfrm>
          <a:prstGeom prst="ellipse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438144"/>
            <a:ext cx="1095725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This deck walks each task step-by-step. ~20 slides; ~15 minutes.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71717A"/>
                </a:solidFill>
                <a:latin typeface="Arial"/>
              </a:rPr>
              <a:t>InsideHR · Employee 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29260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71717A"/>
                </a:solidFill>
                <a:latin typeface="Arial"/>
              </a:rPr>
              <a:t>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713232"/>
            <a:ext cx="11185855" cy="0"/>
          </a:xfrm>
          <a:prstGeom prst="line">
            <a:avLst/>
          </a:prstGeom>
          <a:ln w="6350">
            <a:solidFill>
              <a:srgbClr val="E4E4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8686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18181B"/>
                </a:solidFill>
                <a:latin typeface="Arial"/>
              </a:rPr>
              <a:t>Logging in for the first 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71717A"/>
                </a:solidFill>
                <a:latin typeface="Arial"/>
              </a:rPr>
              <a:t>STEP-BY-STEP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801368"/>
            <a:ext cx="292608" cy="292608"/>
          </a:xfrm>
          <a:prstGeom prst="rect">
            <a:avLst/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01368"/>
            <a:ext cx="292608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755648"/>
            <a:ext cx="1077437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Open the InsideHR URL provided by HR.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295144"/>
            <a:ext cx="292608" cy="292608"/>
          </a:xfrm>
          <a:prstGeom prst="rect">
            <a:avLst/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295144"/>
            <a:ext cx="292608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249424"/>
            <a:ext cx="1077437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Enter your work email + the temporary password from your welcome email.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990088"/>
            <a:ext cx="292608" cy="292608"/>
          </a:xfrm>
          <a:prstGeom prst="rect">
            <a:avLst/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990088"/>
            <a:ext cx="292608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944368"/>
            <a:ext cx="1077437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You'll be forced to change your password on first login (8+ characters, mix it up).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685032"/>
            <a:ext cx="292608" cy="292608"/>
          </a:xfrm>
          <a:prstGeom prst="rect">
            <a:avLst/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685032"/>
            <a:ext cx="292608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639312"/>
            <a:ext cx="1077437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After saving the new password, you land on your dashboard. That's home.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46520"/>
            <a:ext cx="111858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71717A"/>
                </a:solidFill>
                <a:latin typeface="Arial"/>
              </a:rPr>
              <a:t>Lost your password? Click "Forgot password" on the login screen — you'll get a reset email.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71717A"/>
                </a:solidFill>
                <a:latin typeface="Arial"/>
              </a:rPr>
              <a:t>InsideHR · Employee 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29260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71717A"/>
                </a:solidFill>
                <a:latin typeface="Arial"/>
              </a:rPr>
              <a:t>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713232"/>
            <a:ext cx="11185855" cy="0"/>
          </a:xfrm>
          <a:prstGeom prst="line">
            <a:avLst/>
          </a:prstGeom>
          <a:ln w="6350">
            <a:solidFill>
              <a:srgbClr val="E4E4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8686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18181B"/>
                </a:solidFill>
                <a:latin typeface="Arial"/>
              </a:rPr>
              <a:t>Your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71717A"/>
                </a:solidFill>
                <a:latin typeface="Arial"/>
              </a:rPr>
              <a:t>WHAT YOU CAN DO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1874520"/>
            <a:ext cx="73152" cy="73152"/>
          </a:xfrm>
          <a:prstGeom prst="ellipse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55648"/>
            <a:ext cx="4892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Top-left widgets summarize your leave balances and any pending requests.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386584"/>
            <a:ext cx="73152" cy="73152"/>
          </a:xfrm>
          <a:prstGeom prst="ellipse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267712"/>
            <a:ext cx="4892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Country holidays show the next few public holidays for your country.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2898648"/>
            <a:ext cx="73152" cy="73152"/>
          </a:xfrm>
          <a:prstGeom prst="ellipse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779776"/>
            <a:ext cx="4892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Birthday widget shows colleagues with upcoming birthdays — a nice reminder.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3410712"/>
            <a:ext cx="73152" cy="73152"/>
          </a:xfrm>
          <a:prstGeom prst="ellipse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291840"/>
            <a:ext cx="4892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Use the sidebar to navigate to specific features.</a:t>
            </a:r>
          </a:p>
        </p:txBody>
      </p:sp>
      <p:pic>
        <p:nvPicPr>
          <p:cNvPr id="15" name="Picture 14" descr="employee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2016538"/>
            <a:ext cx="5836615" cy="3647884"/>
          </a:xfrm>
          <a:prstGeom prst="rect">
            <a:avLst/>
          </a:prstGeom>
          <a:ln w="6350">
            <a:solidFill>
              <a:srgbClr val="E4E4E7"/>
            </a:solidFill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0" cy="6858000"/>
          </a:xfrm>
          <a:prstGeom prst="rect">
            <a:avLst/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65176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4400" b="1">
                <a:solidFill>
                  <a:srgbClr val="18181B"/>
                </a:solidFill>
                <a:latin typeface="Arial"/>
              </a:rPr>
              <a:t>Time Off (Leave)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84048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71717A"/>
                </a:solidFill>
                <a:latin typeface="Arial"/>
              </a:rPr>
              <a:t>Applying, tracking, balances.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71717A"/>
                </a:solidFill>
                <a:latin typeface="Arial"/>
              </a:rPr>
              <a:t>InsideHR · Employee 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29260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71717A"/>
                </a:solidFill>
                <a:latin typeface="Arial"/>
              </a:rPr>
              <a:t>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713232"/>
            <a:ext cx="11185855" cy="0"/>
          </a:xfrm>
          <a:prstGeom prst="line">
            <a:avLst/>
          </a:prstGeom>
          <a:ln w="6350">
            <a:solidFill>
              <a:srgbClr val="E4E4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8686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18181B"/>
                </a:solidFill>
                <a:latin typeface="Arial"/>
              </a:rPr>
              <a:t>See your balances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71717A"/>
                </a:solidFill>
                <a:latin typeface="Arial"/>
              </a:rPr>
              <a:t>WHAT YOU CAN DO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1874520"/>
            <a:ext cx="73152" cy="73152"/>
          </a:xfrm>
          <a:prstGeom prst="ellipse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55648"/>
            <a:ext cx="4892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Annual leave, sick leave, maternity / paternity leave (if applicable), etc.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386584"/>
            <a:ext cx="73152" cy="73152"/>
          </a:xfrm>
          <a:prstGeom prst="ellipse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267712"/>
            <a:ext cx="4892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Each card shows: available days, used days, pending days, and total entitlement.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2898648"/>
            <a:ext cx="73152" cy="73152"/>
          </a:xfrm>
          <a:prstGeom prst="ellipse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779776"/>
            <a:ext cx="4892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If you see a number you don't recognise, ask HR — balances can be manually adjusted.</a:t>
            </a:r>
          </a:p>
        </p:txBody>
      </p:sp>
      <p:pic>
        <p:nvPicPr>
          <p:cNvPr id="13" name="Picture 12" descr="employee-lea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2016538"/>
            <a:ext cx="5836615" cy="3647884"/>
          </a:xfrm>
          <a:prstGeom prst="rect">
            <a:avLst/>
          </a:prstGeom>
          <a:ln w="6350">
            <a:solidFill>
              <a:srgbClr val="E4E4E7"/>
            </a:solidFill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71717A"/>
                </a:solidFill>
                <a:latin typeface="Arial"/>
              </a:rPr>
              <a:t>InsideHR · Employee 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29260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71717A"/>
                </a:solidFill>
                <a:latin typeface="Arial"/>
              </a:rPr>
              <a:t>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713232"/>
            <a:ext cx="11185855" cy="0"/>
          </a:xfrm>
          <a:prstGeom prst="line">
            <a:avLst/>
          </a:prstGeom>
          <a:ln w="6350">
            <a:solidFill>
              <a:srgbClr val="E4E4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8686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18181B"/>
                </a:solidFill>
                <a:latin typeface="Arial"/>
              </a:rPr>
              <a:t>Submitting a leave request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71717A"/>
                </a:solidFill>
                <a:latin typeface="Arial"/>
              </a:rPr>
              <a:t>STEP-BY-STEP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801368"/>
            <a:ext cx="292608" cy="292608"/>
          </a:xfrm>
          <a:prstGeom prst="rect">
            <a:avLst/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01368"/>
            <a:ext cx="292608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755648"/>
            <a:ext cx="47091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Sidebar → Time Off → "Request leave".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295144"/>
            <a:ext cx="292608" cy="292608"/>
          </a:xfrm>
          <a:prstGeom prst="rect">
            <a:avLst/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295144"/>
            <a:ext cx="292608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249424"/>
            <a:ext cx="47091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Pick the leave type — only ones you have balance for show as available.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990088"/>
            <a:ext cx="292608" cy="292608"/>
          </a:xfrm>
          <a:prstGeom prst="rect">
            <a:avLst/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990088"/>
            <a:ext cx="292608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944368"/>
            <a:ext cx="47091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Use the date picker. Working days are counted automatically (excludes weekends + your country's holidays).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685032"/>
            <a:ext cx="292608" cy="292608"/>
          </a:xfrm>
          <a:prstGeom prst="rect">
            <a:avLst/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685032"/>
            <a:ext cx="292608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639312"/>
            <a:ext cx="47091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If it's a half-day, pick AM or PM.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178808"/>
            <a:ext cx="292608" cy="292608"/>
          </a:xfrm>
          <a:prstGeom prst="rect">
            <a:avLst/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4178808"/>
            <a:ext cx="292608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133088"/>
            <a:ext cx="47091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Add an optional reason + (if required) an attachment (e.g. MC for sick leave).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4873752"/>
            <a:ext cx="292608" cy="292608"/>
          </a:xfrm>
          <a:prstGeom prst="rect">
            <a:avLst/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4873752"/>
            <a:ext cx="292608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828032"/>
            <a:ext cx="47091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Submit → request goes to your reporting manager for approval.</a:t>
            </a:r>
          </a:p>
        </p:txBody>
      </p:sp>
      <p:pic>
        <p:nvPicPr>
          <p:cNvPr id="25" name="Picture 24" descr="employee-leave-requ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2016538"/>
            <a:ext cx="5836615" cy="3647884"/>
          </a:xfrm>
          <a:prstGeom prst="rect">
            <a:avLst/>
          </a:prstGeom>
          <a:ln w="6350">
            <a:solidFill>
              <a:srgbClr val="E4E4E7"/>
            </a:solidFill>
          </a:ln>
        </p:spPr>
      </p:pic>
      <p:sp>
        <p:nvSpPr>
          <p:cNvPr id="26" name="TextBox 25"/>
          <p:cNvSpPr txBox="1"/>
          <p:nvPr/>
        </p:nvSpPr>
        <p:spPr>
          <a:xfrm>
            <a:off x="502920" y="6446520"/>
            <a:ext cx="111858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71717A"/>
                </a:solidFill>
                <a:latin typeface="Arial"/>
              </a:rPr>
              <a:t>The system shows you a preview of working days deducted before you confirm.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71717A"/>
                </a:solidFill>
                <a:latin typeface="Arial"/>
              </a:rPr>
              <a:t>InsideHR · Employee 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29260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71717A"/>
                </a:solidFill>
                <a:latin typeface="Arial"/>
              </a:rPr>
              <a:t>8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713232"/>
            <a:ext cx="11185855" cy="0"/>
          </a:xfrm>
          <a:prstGeom prst="line">
            <a:avLst/>
          </a:prstGeom>
          <a:ln w="6350">
            <a:solidFill>
              <a:srgbClr val="E4E4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8686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18181B"/>
                </a:solidFill>
                <a:latin typeface="Arial"/>
              </a:rPr>
              <a:t>Tracking your request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71717A"/>
                </a:solidFill>
                <a:latin typeface="Arial"/>
              </a:rPr>
              <a:t>WHAT YOU CAN DO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1874520"/>
            <a:ext cx="73152" cy="73152"/>
          </a:xfrm>
          <a:prstGeom prst="ellipse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55648"/>
            <a:ext cx="1095725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After submitting, your request shows on the Time Off page with a status pill.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386584"/>
            <a:ext cx="73152" cy="73152"/>
          </a:xfrm>
          <a:prstGeom prst="ellipse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267712"/>
            <a:ext cx="1095725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Pending → Approved (deducted from balance) or Rejected (with manager's reason).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2898648"/>
            <a:ext cx="73152" cy="73152"/>
          </a:xfrm>
          <a:prstGeom prst="ellipse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779776"/>
            <a:ext cx="1095725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You can cancel a still-pending request at any time.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3209544"/>
            <a:ext cx="73152" cy="73152"/>
          </a:xfrm>
          <a:prstGeom prst="ellipse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090672"/>
            <a:ext cx="1095725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Approved leave appears on the team calendar so colleagues know.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0" cy="6858000"/>
          </a:xfrm>
          <a:prstGeom prst="rect">
            <a:avLst/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65176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4400" b="1">
                <a:solidFill>
                  <a:srgbClr val="18181B"/>
                </a:solidFill>
                <a:latin typeface="Arial"/>
              </a:rPr>
              <a:t>Expenses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84048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71717A"/>
                </a:solidFill>
                <a:latin typeface="Arial"/>
              </a:rPr>
              <a:t>Claiming reimbursable spend.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71717A"/>
                </a:solidFill>
                <a:latin typeface="Arial"/>
              </a:rPr>
              <a:t>InsideHR · Employee 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29260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71717A"/>
                </a:solidFill>
                <a:latin typeface="Arial"/>
              </a:rPr>
              <a:t>10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713232"/>
            <a:ext cx="11185855" cy="0"/>
          </a:xfrm>
          <a:prstGeom prst="line">
            <a:avLst/>
          </a:prstGeom>
          <a:ln w="6350">
            <a:solidFill>
              <a:srgbClr val="E4E4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8686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18181B"/>
                </a:solidFill>
                <a:latin typeface="Arial"/>
              </a:rPr>
              <a:t>Submitting an expense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71717A"/>
                </a:solidFill>
                <a:latin typeface="Arial"/>
              </a:rPr>
              <a:t>STEP-BY-STEP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801368"/>
            <a:ext cx="292608" cy="292608"/>
          </a:xfrm>
          <a:prstGeom prst="rect">
            <a:avLst/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01368"/>
            <a:ext cx="292608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755648"/>
            <a:ext cx="47091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Sidebar → Expenses → "+ New expense".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295144"/>
            <a:ext cx="292608" cy="292608"/>
          </a:xfrm>
          <a:prstGeom prst="rect">
            <a:avLst/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295144"/>
            <a:ext cx="292608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249424"/>
            <a:ext cx="47091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Pick a category (Local Transport / Meals / Office / etc.).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788920"/>
            <a:ext cx="292608" cy="292608"/>
          </a:xfrm>
          <a:prstGeom prst="rect">
            <a:avLst/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788920"/>
            <a:ext cx="292608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743200"/>
            <a:ext cx="47091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Amount + currency. Receipt date. Merchant name.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282696"/>
            <a:ext cx="292608" cy="292608"/>
          </a:xfrm>
          <a:prstGeom prst="rect">
            <a:avLst/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282696"/>
            <a:ext cx="292608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236976"/>
            <a:ext cx="47091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Add a description if helpful.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776472"/>
            <a:ext cx="292608" cy="292608"/>
          </a:xfrm>
          <a:prstGeom prst="rect">
            <a:avLst/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3776472"/>
            <a:ext cx="292608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3730752"/>
            <a:ext cx="47091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Upload the receipt — PDF, JPG, or PNG.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4270248"/>
            <a:ext cx="292608" cy="292608"/>
          </a:xfrm>
          <a:prstGeom prst="rect">
            <a:avLst/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4270248"/>
            <a:ext cx="292608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224528"/>
            <a:ext cx="47091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Save as Draft, then click "Submit for approval" when ready.</a:t>
            </a:r>
          </a:p>
        </p:txBody>
      </p:sp>
      <p:pic>
        <p:nvPicPr>
          <p:cNvPr id="25" name="Picture 24" descr="employee-expense-n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2016538"/>
            <a:ext cx="5836615" cy="3647884"/>
          </a:xfrm>
          <a:prstGeom prst="rect">
            <a:avLst/>
          </a:prstGeom>
          <a:ln w="6350">
            <a:solidFill>
              <a:srgbClr val="E4E4E7"/>
            </a:solidFill>
          </a:ln>
        </p:spPr>
      </p:pic>
      <p:sp>
        <p:nvSpPr>
          <p:cNvPr id="26" name="TextBox 25"/>
          <p:cNvSpPr txBox="1"/>
          <p:nvPr/>
        </p:nvSpPr>
        <p:spPr>
          <a:xfrm>
            <a:off x="502920" y="6446520"/>
            <a:ext cx="111858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71717A"/>
                </a:solidFill>
                <a:latin typeface="Arial"/>
              </a:rPr>
              <a:t>Receipts live securely in Google Drive; only you, your manager, and admin can see them.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71717A"/>
                </a:solidFill>
                <a:latin typeface="Arial"/>
              </a:rPr>
              <a:t>InsideHR · Employee 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29260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71717A"/>
                </a:solidFill>
                <a:latin typeface="Arial"/>
              </a:rPr>
              <a:t>11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713232"/>
            <a:ext cx="11185855" cy="0"/>
          </a:xfrm>
          <a:prstGeom prst="line">
            <a:avLst/>
          </a:prstGeom>
          <a:ln w="6350">
            <a:solidFill>
              <a:srgbClr val="E4E4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8686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18181B"/>
                </a:solidFill>
                <a:latin typeface="Arial"/>
              </a:rPr>
              <a:t>Tracking your expenses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71717A"/>
                </a:solidFill>
                <a:latin typeface="Arial"/>
              </a:rPr>
              <a:t>WHAT YOU CAN DO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1874520"/>
            <a:ext cx="73152" cy="73152"/>
          </a:xfrm>
          <a:prstGeom prst="ellipse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55648"/>
            <a:ext cx="4892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Tabs at top: Draft / For Approval / Approved / Rejected / Reimbursed.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386584"/>
            <a:ext cx="73152" cy="73152"/>
          </a:xfrm>
          <a:prstGeom prst="ellipse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267712"/>
            <a:ext cx="4892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Each row shows the status pill at a glance.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2697480"/>
            <a:ext cx="73152" cy="73152"/>
          </a:xfrm>
          <a:prstGeom prst="ellipse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578608"/>
            <a:ext cx="4892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Click into one to see history: when submitted, who approved, when reimbursed.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3209544"/>
            <a:ext cx="73152" cy="73152"/>
          </a:xfrm>
          <a:prstGeom prst="ellipse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090672"/>
            <a:ext cx="4892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Rejected expenses come back editable, with the manager's reason.</a:t>
            </a:r>
          </a:p>
        </p:txBody>
      </p:sp>
      <p:pic>
        <p:nvPicPr>
          <p:cNvPr id="15" name="Picture 14" descr="employee-expen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2016538"/>
            <a:ext cx="5836615" cy="3647884"/>
          </a:xfrm>
          <a:prstGeom prst="rect">
            <a:avLst/>
          </a:prstGeom>
          <a:ln w="6350">
            <a:solidFill>
              <a:srgbClr val="E4E4E7"/>
            </a:solidFill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0" cy="6858000"/>
          </a:xfrm>
          <a:prstGeom prst="rect">
            <a:avLst/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65176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4400" b="1">
                <a:solidFill>
                  <a:srgbClr val="18181B"/>
                </a:solidFill>
                <a:latin typeface="Arial"/>
              </a:rPr>
              <a:t>Your Performance Reviews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84048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71717A"/>
                </a:solidFill>
                <a:latin typeface="Arial"/>
              </a:rPr>
              <a:t>What to expect from a review cycle.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71717A"/>
                </a:solidFill>
                <a:latin typeface="Arial"/>
              </a:rPr>
              <a:t>InsideHR · Employee 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29260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71717A"/>
                </a:solidFill>
                <a:latin typeface="Arial"/>
              </a:rPr>
              <a:t>13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713232"/>
            <a:ext cx="11185855" cy="0"/>
          </a:xfrm>
          <a:prstGeom prst="line">
            <a:avLst/>
          </a:prstGeom>
          <a:ln w="6350">
            <a:solidFill>
              <a:srgbClr val="E4E4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8686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18181B"/>
                </a:solidFill>
                <a:latin typeface="Arial"/>
              </a:rPr>
              <a:t>How review cycles work for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71717A"/>
                </a:solidFill>
                <a:latin typeface="Arial"/>
              </a:rPr>
              <a:t>WHAT YOU CAN DO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1874520"/>
            <a:ext cx="73152" cy="73152"/>
          </a:xfrm>
          <a:prstGeom prst="ellipse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55648"/>
            <a:ext cx="1095725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Admin runs review cycles every quarter / half-year / year, depending on company practice.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386584"/>
            <a:ext cx="73152" cy="73152"/>
          </a:xfrm>
          <a:prstGeom prst="ellipse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267712"/>
            <a:ext cx="1095725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Your reporting manager writes your goals at the start, then evaluates you at the end.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2898648"/>
            <a:ext cx="73152" cy="73152"/>
          </a:xfrm>
          <a:prstGeom prst="ellipse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779776"/>
            <a:ext cx="1095725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You don't fill out goals yourself in v1 — your manager does. You'll see them as read-only.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3410712"/>
            <a:ext cx="73152" cy="73152"/>
          </a:xfrm>
          <a:prstGeom prst="ellipse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291840"/>
            <a:ext cx="1095725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At the end, you read your manager's evaluation and "Acknowledge" — that locks the review on record.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46520"/>
            <a:ext cx="111858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71717A"/>
                </a:solidFill>
                <a:latin typeface="Arial"/>
              </a:rPr>
              <a:t>If a probation review applies (within your first 3 months), you'll see CONFIRMED / EXTENDED / NOT_CONFIRMED there instead of a rating.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71717A"/>
                </a:solidFill>
                <a:latin typeface="Arial"/>
              </a:rPr>
              <a:t>InsideHR · Employee 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29260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71717A"/>
                </a:solidFill>
                <a:latin typeface="Arial"/>
              </a:rPr>
              <a:t>14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713232"/>
            <a:ext cx="11185855" cy="0"/>
          </a:xfrm>
          <a:prstGeom prst="line">
            <a:avLst/>
          </a:prstGeom>
          <a:ln w="6350">
            <a:solidFill>
              <a:srgbClr val="E4E4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8686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18181B"/>
                </a:solidFill>
                <a:latin typeface="Arial"/>
              </a:rPr>
              <a:t>Seeing your reviews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71717A"/>
                </a:solidFill>
                <a:latin typeface="Arial"/>
              </a:rPr>
              <a:t>WHAT YOU CAN DO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1874520"/>
            <a:ext cx="73152" cy="73152"/>
          </a:xfrm>
          <a:prstGeom prst="ellipse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55648"/>
            <a:ext cx="4892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Sidebar → Performance → My reviews.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185416"/>
            <a:ext cx="73152" cy="73152"/>
          </a:xfrm>
          <a:prstGeom prst="ellipse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066544"/>
            <a:ext cx="4892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Each row = one review cycle. Status tells you what's happening now.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2697480"/>
            <a:ext cx="73152" cy="73152"/>
          </a:xfrm>
          <a:prstGeom prst="ellipse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578608"/>
            <a:ext cx="4892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Click "View" to see the goals + your manager's evaluation when ready.</a:t>
            </a:r>
          </a:p>
        </p:txBody>
      </p:sp>
      <p:pic>
        <p:nvPicPr>
          <p:cNvPr id="13" name="Picture 12" descr="employee-perf-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2016538"/>
            <a:ext cx="5836615" cy="3647884"/>
          </a:xfrm>
          <a:prstGeom prst="rect">
            <a:avLst/>
          </a:prstGeom>
          <a:ln w="6350">
            <a:solidFill>
              <a:srgbClr val="E4E4E7"/>
            </a:solidFill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71717A"/>
                </a:solidFill>
                <a:latin typeface="Arial"/>
              </a:rPr>
              <a:t>InsideHR · Employee 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29260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71717A"/>
                </a:solidFill>
                <a:latin typeface="Arial"/>
              </a:rPr>
              <a:t>15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713232"/>
            <a:ext cx="11185855" cy="0"/>
          </a:xfrm>
          <a:prstGeom prst="line">
            <a:avLst/>
          </a:prstGeom>
          <a:ln w="6350">
            <a:solidFill>
              <a:srgbClr val="E4E4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8686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18181B"/>
                </a:solidFill>
                <a:latin typeface="Arial"/>
              </a:rPr>
              <a:t>Acknowledging your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71717A"/>
                </a:solidFill>
                <a:latin typeface="Arial"/>
              </a:rPr>
              <a:t>STEP-BY-STEP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801368"/>
            <a:ext cx="292608" cy="292608"/>
          </a:xfrm>
          <a:prstGeom prst="rect">
            <a:avLst/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01368"/>
            <a:ext cx="292608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755648"/>
            <a:ext cx="47091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When your review is "Awaiting acknowledgement", click "View →" or "Acknowledge →".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496312"/>
            <a:ext cx="292608" cy="292608"/>
          </a:xfrm>
          <a:prstGeom prst="rect">
            <a:avLst/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496312"/>
            <a:ext cx="292608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50592"/>
            <a:ext cx="47091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Read each goal + outcome + manager comment.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990088"/>
            <a:ext cx="292608" cy="292608"/>
          </a:xfrm>
          <a:prstGeom prst="rect">
            <a:avLst/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990088"/>
            <a:ext cx="292608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944368"/>
            <a:ext cx="47091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Read your overall rating + the manager narrative.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483864"/>
            <a:ext cx="292608" cy="292608"/>
          </a:xfrm>
          <a:prstGeom prst="rect">
            <a:avLst/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483864"/>
            <a:ext cx="292608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438144"/>
            <a:ext cx="47091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Optionally add a comment (agreement, disagreement, context — kept on record).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178808"/>
            <a:ext cx="292608" cy="292608"/>
          </a:xfrm>
          <a:prstGeom prst="rect">
            <a:avLst/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4178808"/>
            <a:ext cx="292608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133088"/>
            <a:ext cx="47091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Click "Acknowledge review" → it's now locked. Done.</a:t>
            </a:r>
          </a:p>
        </p:txBody>
      </p:sp>
      <p:pic>
        <p:nvPicPr>
          <p:cNvPr id="22" name="Picture 21" descr="employee-perf-review-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4654" y="1463040"/>
            <a:ext cx="5691626" cy="4754880"/>
          </a:xfrm>
          <a:prstGeom prst="rect">
            <a:avLst/>
          </a:prstGeom>
          <a:ln w="6350">
            <a:solidFill>
              <a:srgbClr val="E4E4E7"/>
            </a:solidFill>
          </a:ln>
        </p:spPr>
      </p:pic>
      <p:sp>
        <p:nvSpPr>
          <p:cNvPr id="23" name="TextBox 22"/>
          <p:cNvSpPr txBox="1"/>
          <p:nvPr/>
        </p:nvSpPr>
        <p:spPr>
          <a:xfrm>
            <a:off x="502920" y="6446520"/>
            <a:ext cx="111858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71717A"/>
                </a:solidFill>
                <a:latin typeface="Arial"/>
              </a:rPr>
              <a:t>Acknowledgement isn't agreement — it's just confirmation you've seen it. Disagree? Add a comment and talk to your manager.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0" cy="6858000"/>
          </a:xfrm>
          <a:prstGeom prst="rect">
            <a:avLst/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65176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4400" b="1">
                <a:solidFill>
                  <a:srgbClr val="18181B"/>
                </a:solidFill>
                <a:latin typeface="Arial"/>
              </a:rPr>
              <a:t>Timesheet (Part-time staff only)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84048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71717A"/>
                </a:solidFill>
                <a:latin typeface="Arial"/>
              </a:rPr>
              <a:t>Logging your hours daily and submitting weekly.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71717A"/>
                </a:solidFill>
                <a:latin typeface="Arial"/>
              </a:rPr>
              <a:t>InsideHR · Employee 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29260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71717A"/>
                </a:solidFill>
                <a:latin typeface="Arial"/>
              </a:rPr>
              <a:t>17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713232"/>
            <a:ext cx="11185855" cy="0"/>
          </a:xfrm>
          <a:prstGeom prst="line">
            <a:avLst/>
          </a:prstGeom>
          <a:ln w="6350">
            <a:solidFill>
              <a:srgbClr val="E4E4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8686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18181B"/>
                </a:solidFill>
                <a:latin typeface="Arial"/>
              </a:rPr>
              <a:t>Logging your daily hours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71717A"/>
                </a:solidFill>
                <a:latin typeface="Arial"/>
              </a:rPr>
              <a:t>STEP-BY-STEP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801368"/>
            <a:ext cx="292608" cy="292608"/>
          </a:xfrm>
          <a:prstGeom prst="rect">
            <a:avLst/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01368"/>
            <a:ext cx="292608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755648"/>
            <a:ext cx="47091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Sidebar → Timesheet → you'll see the current week as 7 day-cards.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496312"/>
            <a:ext cx="292608" cy="292608"/>
          </a:xfrm>
          <a:prstGeom prst="rect">
            <a:avLst/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496312"/>
            <a:ext cx="292608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50592"/>
            <a:ext cx="47091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Click any day → enter hours worked, optional start/end time, optional break minutes, optional note.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191256"/>
            <a:ext cx="292608" cy="292608"/>
          </a:xfrm>
          <a:prstGeom prst="rect">
            <a:avLst/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191256"/>
            <a:ext cx="292608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145536"/>
            <a:ext cx="47091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Save → that day's card shows "Draft" + the hours you logged.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886200"/>
            <a:ext cx="292608" cy="292608"/>
          </a:xfrm>
          <a:prstGeom prst="rect">
            <a:avLst/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886200"/>
            <a:ext cx="292608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840480"/>
            <a:ext cx="47091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Repeat for each day you worked that week.</a:t>
            </a:r>
          </a:p>
        </p:txBody>
      </p:sp>
      <p:pic>
        <p:nvPicPr>
          <p:cNvPr id="19" name="Picture 18" descr="pt-timeshe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2016538"/>
            <a:ext cx="5836615" cy="3647884"/>
          </a:xfrm>
          <a:prstGeom prst="rect">
            <a:avLst/>
          </a:prstGeom>
          <a:ln w="6350">
            <a:solidFill>
              <a:srgbClr val="E4E4E7"/>
            </a:solidFill>
          </a:ln>
        </p:spPr>
      </p:pic>
      <p:sp>
        <p:nvSpPr>
          <p:cNvPr id="20" name="TextBox 19"/>
          <p:cNvSpPr txBox="1"/>
          <p:nvPr/>
        </p:nvSpPr>
        <p:spPr>
          <a:xfrm>
            <a:off x="502920" y="6446520"/>
            <a:ext cx="111858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71717A"/>
                </a:solidFill>
                <a:latin typeface="Arial"/>
              </a:rPr>
              <a:t>Public holidays auto-detect from your country's calendar; if you worked on one, you'll get 2× pay (3× for overtime).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71717A"/>
                </a:solidFill>
                <a:latin typeface="Arial"/>
              </a:rPr>
              <a:t>InsideHR · Employee 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29260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71717A"/>
                </a:solidFill>
                <a:latin typeface="Arial"/>
              </a:rPr>
              <a:t>18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713232"/>
            <a:ext cx="11185855" cy="0"/>
          </a:xfrm>
          <a:prstGeom prst="line">
            <a:avLst/>
          </a:prstGeom>
          <a:ln w="6350">
            <a:solidFill>
              <a:srgbClr val="E4E4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8686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18181B"/>
                </a:solidFill>
                <a:latin typeface="Arial"/>
              </a:rPr>
              <a:t>Submitting your week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71717A"/>
                </a:solidFill>
                <a:latin typeface="Arial"/>
              </a:rPr>
              <a:t>STEP-BY-STEP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801368"/>
            <a:ext cx="292608" cy="292608"/>
          </a:xfrm>
          <a:prstGeom prst="rect">
            <a:avLst/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01368"/>
            <a:ext cx="292608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755648"/>
            <a:ext cx="1077437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Once all your worked days are logged, click "Submit week" at the top right.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496312"/>
            <a:ext cx="292608" cy="292608"/>
          </a:xfrm>
          <a:prstGeom prst="rect">
            <a:avLst/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496312"/>
            <a:ext cx="292608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50592"/>
            <a:ext cx="1077437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All your drafts lock as "Submitted" — your manager gets them in their approval queue.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191256"/>
            <a:ext cx="292608" cy="292608"/>
          </a:xfrm>
          <a:prstGeom prst="rect">
            <a:avLst/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191256"/>
            <a:ext cx="292608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145536"/>
            <a:ext cx="1077437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Wait for approval. Approved entries flow into the monthly payroll.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886200"/>
            <a:ext cx="292608" cy="292608"/>
          </a:xfrm>
          <a:prstGeom prst="rect">
            <a:avLst/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886200"/>
            <a:ext cx="292608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840480"/>
            <a:ext cx="1077437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If your manager rejects an entry, it comes back as "Draft" with their reason — fix and resubmit.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46520"/>
            <a:ext cx="111858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71717A"/>
                </a:solidFill>
                <a:latin typeface="Arial"/>
              </a:rPr>
              <a:t>You can edit drafts and rejected entries up to 14 days back. Submitted entries are read-only until approved or rejected.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0" cy="6858000"/>
          </a:xfrm>
          <a:prstGeom prst="rect">
            <a:avLst/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65176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4400" b="1">
                <a:solidFill>
                  <a:srgbClr val="18181B"/>
                </a:solidFill>
                <a:latin typeface="Arial"/>
              </a:rPr>
              <a:t>Other useful things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84048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71717A"/>
                </a:solidFill>
                <a:latin typeface="Arial"/>
              </a:rPr>
              <a:t>Calendar, docs, and your own profile.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71717A"/>
                </a:solidFill>
                <a:latin typeface="Arial"/>
              </a:rPr>
              <a:t>InsideHR · Employee 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29260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71717A"/>
                </a:solidFill>
                <a:latin typeface="Arial"/>
              </a:rPr>
              <a:t>20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713232"/>
            <a:ext cx="11185855" cy="0"/>
          </a:xfrm>
          <a:prstGeom prst="line">
            <a:avLst/>
          </a:prstGeom>
          <a:ln w="6350">
            <a:solidFill>
              <a:srgbClr val="E4E4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8686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18181B"/>
                </a:solidFill>
                <a:latin typeface="Arial"/>
              </a:rPr>
              <a:t>Team calendar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71717A"/>
                </a:solidFill>
                <a:latin typeface="Arial"/>
              </a:rPr>
              <a:t>WHAT YOU CAN DO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1874520"/>
            <a:ext cx="73152" cy="73152"/>
          </a:xfrm>
          <a:prstGeom prst="ellipse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55648"/>
            <a:ext cx="4892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See who's out across your department / company.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185416"/>
            <a:ext cx="73152" cy="73152"/>
          </a:xfrm>
          <a:prstGeom prst="ellipse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066544"/>
            <a:ext cx="4892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Useful for planning meetings or coverage.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2496312"/>
            <a:ext cx="73152" cy="73152"/>
          </a:xfrm>
          <a:prstGeom prst="ellipse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377440"/>
            <a:ext cx="4892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Coloured by country.</a:t>
            </a:r>
          </a:p>
        </p:txBody>
      </p:sp>
      <p:pic>
        <p:nvPicPr>
          <p:cNvPr id="13" name="Picture 12" descr="employee-team-calen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2016538"/>
            <a:ext cx="5836615" cy="3647884"/>
          </a:xfrm>
          <a:prstGeom prst="rect">
            <a:avLst/>
          </a:prstGeom>
          <a:ln w="6350">
            <a:solidFill>
              <a:srgbClr val="E4E4E7"/>
            </a:solidFill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71717A"/>
                </a:solidFill>
                <a:latin typeface="Arial"/>
              </a:rPr>
              <a:t>InsideHR · Employee 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29260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71717A"/>
                </a:solidFill>
                <a:latin typeface="Arial"/>
              </a:rPr>
              <a:t>21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713232"/>
            <a:ext cx="11185855" cy="0"/>
          </a:xfrm>
          <a:prstGeom prst="line">
            <a:avLst/>
          </a:prstGeom>
          <a:ln w="6350">
            <a:solidFill>
              <a:srgbClr val="E4E4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8686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18181B"/>
                </a:solidFill>
                <a:latin typeface="Arial"/>
              </a:rPr>
              <a:t>Documents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71717A"/>
                </a:solidFill>
                <a:latin typeface="Arial"/>
              </a:rPr>
              <a:t>WHAT YOU CAN DO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1874520"/>
            <a:ext cx="73152" cy="73152"/>
          </a:xfrm>
          <a:prstGeom prst="ellipse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55648"/>
            <a:ext cx="4892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Two sections: Company documents (handbook, policies, holiday calendar) + My documents (your offer letter, contract, etc.).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587752"/>
            <a:ext cx="73152" cy="73152"/>
          </a:xfrm>
          <a:prstGeom prst="ellipse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468880"/>
            <a:ext cx="4892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Click to download — files are stored in Google Drive.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2898648"/>
            <a:ext cx="73152" cy="73152"/>
          </a:xfrm>
          <a:prstGeom prst="ellipse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779776"/>
            <a:ext cx="4892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Can't see something? Ask HR — admin controls who sees what.</a:t>
            </a:r>
          </a:p>
        </p:txBody>
      </p:sp>
      <p:pic>
        <p:nvPicPr>
          <p:cNvPr id="13" name="Picture 12" descr="employee-docu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2016538"/>
            <a:ext cx="5836615" cy="3647884"/>
          </a:xfrm>
          <a:prstGeom prst="rect">
            <a:avLst/>
          </a:prstGeom>
          <a:ln w="6350">
            <a:solidFill>
              <a:srgbClr val="E4E4E7"/>
            </a:solidFill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71717A"/>
                </a:solidFill>
                <a:latin typeface="Arial"/>
              </a:rPr>
              <a:t>InsideHR · Employee 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29260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71717A"/>
                </a:solidFill>
                <a:latin typeface="Arial"/>
              </a:rPr>
              <a:t>22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713232"/>
            <a:ext cx="11185855" cy="0"/>
          </a:xfrm>
          <a:prstGeom prst="line">
            <a:avLst/>
          </a:prstGeom>
          <a:ln w="6350">
            <a:solidFill>
              <a:srgbClr val="E4E4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8686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18181B"/>
                </a:solidFill>
                <a:latin typeface="Arial"/>
              </a:rPr>
              <a:t>Your password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71717A"/>
                </a:solidFill>
                <a:latin typeface="Arial"/>
              </a:rPr>
              <a:t>WHAT YOU CAN DO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1874520"/>
            <a:ext cx="73152" cy="73152"/>
          </a:xfrm>
          <a:prstGeom prst="ellipse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55648"/>
            <a:ext cx="1095725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Sidebar bottom → Change Password — update any time.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185416"/>
            <a:ext cx="73152" cy="73152"/>
          </a:xfrm>
          <a:prstGeom prst="ellipse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066544"/>
            <a:ext cx="1095725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Forgot your password? Click "Forgot password" on the login screen and you'll get a reset email.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2697480"/>
            <a:ext cx="73152" cy="73152"/>
          </a:xfrm>
          <a:prstGeom prst="ellipse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578608"/>
            <a:ext cx="1095725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Never share your password with anyone, even HR. They can reset it but not see it.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71717A"/>
                </a:solidFill>
                <a:latin typeface="Arial"/>
              </a:rPr>
              <a:t>InsideHR · Employee 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29260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71717A"/>
                </a:solidFill>
                <a:latin typeface="Arial"/>
              </a:rPr>
              <a:t>23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713232"/>
            <a:ext cx="11185855" cy="0"/>
          </a:xfrm>
          <a:prstGeom prst="line">
            <a:avLst/>
          </a:prstGeom>
          <a:ln w="6350">
            <a:solidFill>
              <a:srgbClr val="E4E4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8686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18181B"/>
                </a:solidFill>
                <a:latin typeface="Arial"/>
              </a:rPr>
              <a:t>That's everything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71717A"/>
                </a:solidFill>
                <a:latin typeface="Arial"/>
              </a:rPr>
              <a:t>Welcome to InsideHR.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920240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71717A"/>
                </a:solidFill>
                <a:latin typeface="Arial"/>
              </a:rPr>
              <a:t>WHAT YOU CAN DO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331720"/>
            <a:ext cx="73152" cy="73152"/>
          </a:xfrm>
          <a:prstGeom prst="ellipse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212848"/>
            <a:ext cx="1095725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Questions about your records? Ask your manager first, then HR.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843784"/>
            <a:ext cx="73152" cy="73152"/>
          </a:xfrm>
          <a:prstGeom prst="ellipse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724912"/>
            <a:ext cx="1095725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Found a bug or have a feature request? Let HR know — they can pass it up.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